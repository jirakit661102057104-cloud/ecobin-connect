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DCEEE6"/>
                </a:solidFill>
                <a:latin typeface="Sarabun"/>
                <a:ea typeface="Sarabun"/>
              </a:rPr>
              <a:t>โครงงานวิจัย / ปริญญานิพนธ์  ·  ปีการศึกษา 2568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Sarabun"/>
                <a:ea typeface="Sarabun"/>
              </a:rPr>
              <a:t>EcoBin Connect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DCEEE6"/>
                </a:solidFill>
                <a:latin typeface="Sarabun"/>
                <a:ea typeface="Sarabun"/>
              </a:rPr>
              <a:t>เว็บแอปพลิเคชันต้นแบบสำหรับบริหารจัดการข้อมูล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DCEEE6"/>
                </a:solidFill>
                <a:latin typeface="Sarabun"/>
                <a:ea typeface="Sarabun"/>
              </a:rPr>
              <a:t>การคัดแยกขยะประเภทขวดพลาสติก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DF5F1"/>
                </a:solidFill>
                <a:latin typeface="Sarabun"/>
                <a:ea typeface="Sarabun"/>
              </a:rPr>
              <a:t>กรณีศึกษา  มหาวิทยาลัยราชภัฏเพชรบูรณ์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DCEEE6"/>
                </a:solidFill>
                <a:latin typeface="Sarabun"/>
                <a:ea typeface="Sarabun"/>
              </a:rPr>
              <a:t>คณะวิทยาศาสตร์และเทคโนโลยี  ·  สาขาวิชาเทคโนโลยีสารสนเทศ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DCEEE6"/>
                </a:solidFill>
                <a:latin typeface="Sarabun"/>
                <a:ea typeface="Sarabun"/>
              </a:rPr>
              <a:t>นำเสนอโดย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นายจิรกิตติ์ ตันตระกูล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Sarabun"/>
                <a:ea typeface="Sarabun"/>
              </a:rPr>
              <a:t>อาจารย์ที่ปรึกษา  ผศ.ศรัญญา ตรีทศ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โครงเรื่องการนำเสนอ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1  ความสำคัญและที่มาของปัญหา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2  วัตถุประสงค์ของโครงการวิจัย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3  ขอบเขตระบบและกลุ่มผู้ใช้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4  ประโยชน์ที่คาดว่าจะได้รับ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5  ทฤษฎีและงานวิจัยที่เกี่ยวข้อง (สรุป)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9496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6  วิธีการดำเนินงานวิจัย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7  สถาปัตยกรรมและเทคโนโลยี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8  การวิเคราะห์และออกแบบระบบ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9  ผลลัพธ์ต้นแบบและสรุป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ความสำคัญและที่มาของปัญหา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บทที่ 1  ·  บทนำ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20116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332C"/>
                </a:solidFill>
                <a:latin typeface="Sarabun"/>
                <a:ea typeface="Sarabun"/>
              </a:rPr>
              <a:t>ขาดการคัดแยกตั้งแต่ต้นทาง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การทิ้งขยะยังไม่เป็นระบบ ส่งผลต่อสิ่งแวดล้อมและสุขภาพ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20116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332C"/>
                </a:solidFill>
                <a:latin typeface="Sarabun"/>
                <a:ea typeface="Sarabun"/>
              </a:rPr>
              <a:t>ไม่มีฐานข้อมูลสถิติ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ผู้ดูแลไม่ทราบปริมาณและประเภทขยะจริงในพื้นที่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20440"/>
            <a:ext cx="5486400" cy="20116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2044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332C"/>
                </a:solidFill>
                <a:latin typeface="Sarabun"/>
                <a:ea typeface="Sarabun"/>
              </a:rPr>
              <a:t>ขาดแรงจูงใจ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ผู้ใช้ไม่มีแรงกระตุ้นให้ปรับพฤติกรรมอย่างต่อเนื่อง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20440"/>
            <a:ext cx="5486400" cy="20116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52044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332C"/>
                </a:solidFill>
                <a:latin typeface="Sarabun"/>
                <a:ea typeface="Sarabun"/>
              </a:rPr>
              <a:t>เก็บข้อมูลแบบดั้งเดิม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ยุ่งยาก ตรวจสอบหลักฐานได้ยาก และเสี่ยงสูญหาย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แนวทางแก้ปัญหา  ·  EcoBin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เว็บแอปพลิเคชันต้นแบบบนสมาร์ตโฟน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ใช้กล้องสมาร์ตโฟนถ่ายภาพขวดพลาสติกเข้าสู่ระบบ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ระบบช่วยตรวจสอบประเภทขยะ และบันทึกสถิติ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มอบแต้มสะสมเพื่อสร้างแรงจูงใจในการคัดแยก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มีแคตตาล็อกของรางวัลและการแลกของรางวัล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ผู้ดูแลเรียกดูรายงานภาพรวมเพื่อวางแผนจัดการขยะ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0F172A"/>
                </a:solidFill>
                <a:latin typeface="Sarabun"/>
                <a:ea typeface="Sarabun"/>
              </a:rPr>
              <a:t>•  สนับสนุนนโยบาย Green University ของมหาวิทยาลัย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วัตถุประสงค์ของโครงการวิจัย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ข้อ 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155680" cy="137160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554480"/>
            <a:ext cx="731520" cy="73152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arabun"/>
                <a:ea typeface="Sarabun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50876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6332C"/>
                </a:solidFill>
                <a:latin typeface="Sarabun"/>
                <a:ea typeface="Sarabun"/>
              </a:rPr>
              <a:t>พัฒนาเว็บแอปพลิเคชันต้นแบบ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สำหรับบริหารจัดการข้อมูลขยะประเภทขวดพลาสติก ใช้งานได้บน Android และ iOS (ผ่านเบราว์เซอร์)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11155680" cy="137160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108960"/>
            <a:ext cx="731520" cy="73152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arabun"/>
                <a:ea typeface="Sarabu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632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6332C"/>
                </a:solidFill>
                <a:latin typeface="Sarabun"/>
                <a:ea typeface="Sarabun"/>
              </a:rPr>
              <a:t>ประเมินประสิทธิภาพของระบบ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ด้านการจัดเก็บข้อมูลการคัดแยกขยะ และการประมวลผลค่าคาร์บอนฟุตพริ้นท์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43400"/>
            <a:ext cx="11155680" cy="137160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663440"/>
            <a:ext cx="731520" cy="73152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arabun"/>
                <a:ea typeface="Sarabun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617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6332C"/>
                </a:solidFill>
                <a:latin typeface="Sarabun"/>
                <a:ea typeface="Sarabun"/>
              </a:rPr>
              <a:t>ศึกษาความพึงพอใจของผู้ใช้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ด้านความสะดวกในการใช้งาน และการส่งเสริมความตระหนักรู้ด้านสิ่งแวดล้อม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ขอบเขตระบบตามกลุ่มผู้ใช้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ข้อ 1.3 / 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703320" cy="48463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3703320" cy="64008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ผู้ดูแลระบบ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จัดการบัญชีผู้ใช้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ตรวจสอบข้อมูลภาพถ่ายขยะ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จัดการแคตตาล็อกของรางวัล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ดูรายงานสถิติภาพรวม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สแกน QR ยืนยันรับของ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703320" cy="48463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03320" cy="64008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80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สมาชิกทั่วไป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สมัคร / เข้าสู่ระบบ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ถ่ายภาพขวดพลาสติก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ดูสถิติและแต้มสะสม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แลกของรางวัล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ติดตามประวัติการคัดแยก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188720"/>
            <a:ext cx="3703320" cy="48463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188720"/>
            <a:ext cx="3703320" cy="64008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2801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ผู้ใช้ไม่ลงทะเบียน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01168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เข้าใช้โดยไม่สมัคร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ดูรายการของรางวัลเบื้องต้น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สแกนทดลองได้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Sarabun"/>
                <a:ea typeface="Sarabun"/>
              </a:rPr>
              <a:t>•  (ไม่ได้แต้มจริง)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ประโยชน์ที่คาดว่าจะได้รับ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ข้อ 1.7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8640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332C"/>
                </a:solidFill>
                <a:latin typeface="Sarabun"/>
                <a:ea typeface="Sarabun"/>
              </a:rPr>
              <a:t>ต่อองค์กรและชุมชน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บันทึกและเรียกดูสถิติการคัดแยกได้ง่าย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สร้างแรงจูงใจผ่านแต้มและของรางวัล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ช่วยวางแผนจัดเก็บขยะด้วยข้อมูลจริง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สนับสนุนนโยบาย Green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332C"/>
                </a:solidFill>
                <a:latin typeface="Sarabun"/>
                <a:ea typeface="Sarabun"/>
              </a:rPr>
              <a:t>ต่อผู้พัฒนา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พัฒนาทักษะเว็บแอป (TypeScript / Go)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ฝึกวิเคราะห์และออกแบบระบบ UI/UX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จัดการฐานข้อมูลบนคลาวด์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Deploy จริงบน Vercel + Cloud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ทฤษฎีที่เกี่ยวข้อง (สรุป)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บทที่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การจำแนกพลาสติก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สัญลักษณ์รีไซเคิล 1–7 โดยเน้น PET / HDPE สำหรับขวดพลาสติก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หลัก 3Rs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Reduce · Reuse · Recycle สอดคล้องนโยบายมหาวิทยาลัยสีเขียว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Carbon Footprint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ประเมินผลกระทบจากการคัดแยกและลดของเสีย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SDLC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วงจรพัฒนาระบบ 7 ขั้นตอน ตั้งแต่ค้นหาปัญหาถึงบำรุงรักษา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56616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DFD / 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แบบจำลองการไหลของข้อมูลและความสัมพันธ์ฐานข้อมูล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56616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886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สารสนเทศ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แปลงข้อมูลการทิ้งขยะเป็นรายงานเพื่อการตัดสินใจ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วิธีการดำเนินงานวิจัย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บทที่ 3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554480"/>
            <a:ext cx="822960" cy="82296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  <a:ea typeface="Sarabun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920240"/>
            <a:ext cx="1280160" cy="54864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651760"/>
            <a:ext cx="2194560" cy="219456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332C"/>
                </a:solidFill>
                <a:latin typeface="Sarabun"/>
                <a:ea typeface="Sarabun"/>
              </a:rPr>
              <a:t>ศึกษาปัญหา
และความต้องการ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822960" cy="82296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  <a:ea typeface="Sarabun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920240"/>
            <a:ext cx="1280160" cy="54864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651760"/>
            <a:ext cx="2194560" cy="219456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0175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332C"/>
                </a:solidFill>
                <a:latin typeface="Sarabun"/>
                <a:ea typeface="Sarabun"/>
              </a:rPr>
              <a:t>วิเคราะห์ระบบ
(Context / DFD)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1554480"/>
            <a:ext cx="822960" cy="82296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737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  <a:ea typeface="Sarabun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1920240"/>
            <a:ext cx="1280160" cy="54864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2651760"/>
            <a:ext cx="2194560" cy="219456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0175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332C"/>
                </a:solidFill>
                <a:latin typeface="Sarabun"/>
                <a:ea typeface="Sarabun"/>
              </a:rPr>
              <a:t>ออกแบบระบบ
สถาปัตยกรรม · DB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1554480"/>
            <a:ext cx="822960" cy="82296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737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  <a:ea typeface="Sarabun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920240"/>
            <a:ext cx="1280160" cy="54864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2651760"/>
            <a:ext cx="2194560" cy="219456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0175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332C"/>
                </a:solidFill>
                <a:latin typeface="Sarabun"/>
                <a:ea typeface="Sarabun"/>
              </a:rPr>
              <a:t>พัฒนาและทดสอบ
ต้นแบบ</a:t>
            </a:r>
          </a:p>
        </p:txBody>
      </p:sp>
      <p:sp>
        <p:nvSpPr>
          <p:cNvPr id="26" name="Oval 25"/>
          <p:cNvSpPr/>
          <p:nvPr/>
        </p:nvSpPr>
        <p:spPr>
          <a:xfrm>
            <a:off x="10378439" y="1554480"/>
            <a:ext cx="822960" cy="822960"/>
          </a:xfrm>
          <a:prstGeom prst="ellipse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39" y="17373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  <a:ea typeface="Sarabun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59" y="2651760"/>
            <a:ext cx="2194560" cy="219456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30175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332C"/>
                </a:solidFill>
                <a:latin typeface="Sarabun"/>
                <a:ea typeface="Sarabun"/>
              </a:rPr>
              <a:t>ประเมินผล
และสรุป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ระยะเวลาดำเนินงาน: พฤศจิกายน 2568 – ตุลาคม 2569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กรณีศึกษา: มหาวิทยาลัยราชภัฏเพชรบูรณ์  ·  ทดสอบบนสมาร์ตโฟน POCO X6 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สถาปัตยกรรมและเทคโนโลยี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Multi-tier  ·  ข้อ 3.3.1 / 1.4.2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657600" cy="6858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Next.js (React)
Tailwind CSS
Vercel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หน้าจอ Member / Guest / Admin
Google Sign-In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65760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657600" cy="6858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53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API /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Go (Golang)
REST API
Cloud Run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ธุรกิจแต้ม · รางวัล · รายงาน
เชื่อมฐานข้อมูล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234440"/>
            <a:ext cx="3657600" cy="475488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234440"/>
            <a:ext cx="3657600" cy="6858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53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  <a:ea typeface="Sarabun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MySQL
Cloud SQL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ผู้ใช้ · ประวัติสแกน
แต้ม · ของรางวัล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กระบวนการหลักของระบบ (DFD Level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บทที่ 3  ·  4 กระบวนการ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788920" cy="420624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788920" cy="82296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Sarabun"/>
                <a:ea typeface="Sarabun"/>
              </a:rPr>
              <a:t>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จัดการสมาชิก
และการเข้าสู่ระบบ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Sarabun"/>
                <a:ea typeface="Sarabun"/>
              </a:rPr>
              <a:t>สมัคร · Login · โปรไฟล์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88920" cy="420624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88920" cy="82296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17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Sarabun"/>
                <a:ea typeface="Sarabun"/>
              </a:rPr>
              <a:t>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3172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รับภาพถ่าย
วิเคราะห์ด้วย AI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Sarabun"/>
                <a:ea typeface="Sarabun"/>
              </a:rPr>
              <a:t>สแกนขวด · Guest ทดลอง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2788920" cy="420624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2788920" cy="82296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Sarabun"/>
                <a:ea typeface="Sarabun"/>
              </a:rPr>
              <a:t>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แต้ม · ของรางวัล
และการแลก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Sarabun"/>
                <a:ea typeface="Sarabun"/>
              </a:rPr>
              <a:t>แลกของ · สแกน QR รับของ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280160"/>
            <a:ext cx="2788920" cy="420624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280160"/>
            <a:ext cx="2788920" cy="82296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1732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Sarabun"/>
                <a:ea typeface="Sarabun"/>
              </a:rPr>
              <a:t>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33172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6332C"/>
                </a:solidFill>
                <a:latin typeface="Sarabun"/>
                <a:ea typeface="Sarabun"/>
              </a:rPr>
              <a:t>สถิติและรายงาน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0F172A"/>
                </a:solidFill>
                <a:latin typeface="Sarabun"/>
                <a:ea typeface="Sarabun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Sarabun"/>
                <a:ea typeface="Sarabun"/>
              </a:rPr>
              <a:t>แดชบอร์ดสมาชิก · รายงาน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เส้นทางผู้ใช้หลัก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Member journey สรุป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1783080" cy="1371600"/>
          </a:xfrm>
          <a:prstGeom prst="round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arabun"/>
                <a:ea typeface="Sarabun"/>
              </a:rPr>
              <a:t>เข้าสู่ระบบ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423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6332C"/>
                </a:solidFill>
                <a:latin typeface="Sarabun"/>
                <a:ea typeface="Sarabun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011680"/>
            <a:ext cx="1783080" cy="1371600"/>
          </a:xfrm>
          <a:prstGeom prst="round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arabun"/>
                <a:ea typeface="Sarabun"/>
              </a:rPr>
              <a:t>ถ่ายภาพขวด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23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6332C"/>
                </a:solidFill>
                <a:latin typeface="Sarabun"/>
                <a:ea typeface="Sarabun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1783080" cy="1371600"/>
          </a:xfrm>
          <a:prstGeom prst="round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arabun"/>
                <a:ea typeface="Sarabun"/>
              </a:rPr>
              <a:t>ได้แต้มสะสม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423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6332C"/>
                </a:solidFill>
                <a:latin typeface="Sarabun"/>
                <a:ea typeface="Sarabu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1783080" cy="1371600"/>
          </a:xfrm>
          <a:prstGeom prst="round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774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arabun"/>
                <a:ea typeface="Sarabun"/>
              </a:rPr>
              <a:t>ดูสถิติ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423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6332C"/>
                </a:solidFill>
                <a:latin typeface="Sarabun"/>
                <a:ea typeface="Sarabu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1783080" cy="1371600"/>
          </a:xfrm>
          <a:prstGeom prst="round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arabun"/>
                <a:ea typeface="Sarabun"/>
              </a:rPr>
              <a:t>แลกรางวัล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423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6332C"/>
                </a:solidFill>
                <a:latin typeface="Sarabun"/>
                <a:ea typeface="Sarabu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011680"/>
            <a:ext cx="1783080" cy="1371600"/>
          </a:xfrm>
          <a:prstGeom prst="round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3774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Sarabun"/>
                <a:ea typeface="Sarabun"/>
              </a:rPr>
              <a:t>รับของ (QR)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Guest: สแกนทดลองได้ แต่ไม่ได้แต้มจริง — ชวนสมัครสมาชิก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Admin: ดูรายการสแกน / จัดการของรางวัล / สแกน QR ยืนยันรับของ / รายงานภาพรวม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Sarabun"/>
                <a:ea typeface="Sarabun"/>
              </a:rPr>
              <a:t>•  จุดเด่น: ใช้งานผ่านสมาร์ตโฟน · บันทึกหลักฐานด้วยภาพ · แรงจูงใจด้วยแต้ม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6332C"/>
                </a:solidFill>
                <a:latin typeface="Sarabun"/>
                <a:ea typeface="Sarabun"/>
              </a:rPr>
              <a:t>ผลลัพธ์จากการพัฒนา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arabun"/>
                <a:ea typeface="Sarabun"/>
              </a:rPr>
              <a:t>จากบทคัดย่อและบทที่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ต้นแบบพร้อมใช้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ได้เว็บแอปพลิเคชัน EcoBin Connect ที่บันทึกและติดตามการคัดแยกขวดพลาสติกได้เป็นระบบ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แรงจูงใจชัดเจน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ระบบแต้มสะสม + แลกของรางวัล กระตุ้นการมีส่วนร่วมอย่างต่อเนื่อง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3444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ข้อมูลเพื่อการบริหาร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ผู้ดูแลมีรายงานสถิติและฐานข้อมูลเชิงประจักษ์สำหรับวางแผน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สอดคล้องนโยบาย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สนับสนุน Green University และการลดของเสียตามหลัก 3Rs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56616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ทักษะผู้พัฒนา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ครบวงจร วิเคราะห์ · ออกแบบ · พัฒนา · Deploy บนคลาวด์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566160"/>
            <a:ext cx="3657600" cy="2103120"/>
          </a:xfrm>
          <a:prstGeom prst="roundRect">
            <a:avLst/>
          </a:prstGeom>
          <a:solidFill>
            <a:srgbClr val="E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886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332C"/>
                </a:solidFill>
                <a:latin typeface="Sarabun"/>
                <a:ea typeface="Sarabun"/>
              </a:rPr>
              <a:t>เข้าถึงได้ทุกที่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Sarabun"/>
                <a:ea typeface="Sarabun"/>
              </a:rPr>
              <a:t>รันบนเบราว์เซอร์มือถือ Android / iOS ผ่านอินเทอร์เน็ต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Sarabun"/>
                <a:ea typeface="Sarabun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Sarabun"/>
                <a:ea typeface="Sarabun"/>
              </a:rPr>
              <a:t>ขอบคุณครับ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DCEEE6"/>
                </a:solidFill>
                <a:latin typeface="Sarabun"/>
                <a:ea typeface="Sarabun"/>
              </a:rPr>
              <a:t>พร้อมรับคำถามและข้อเสนอแนะ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32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arabun"/>
                <a:ea typeface="Sarabun"/>
              </a:rPr>
              <a:t>EcoBin Connect  ·  มหาวิทยาลัยราชภัฏเพชรบูรณ์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DCEEE6"/>
                </a:solidFill>
                <a:latin typeface="Sarabun"/>
                <a:ea typeface="Sarabun"/>
              </a:rPr>
              <a:t>นายจิรกิตติ์ ตันตระกูล  ·  อาจารย์ที่ปรึกษา ผศ.ศรัญญา ตรีทศ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