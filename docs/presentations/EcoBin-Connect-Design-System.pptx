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DF5F1"/>
                </a:solidFill>
                <a:latin typeface="Segoe UI"/>
                <a:ea typeface="Segoe UI"/>
              </a:rPr>
              <a:t>DESIGN SYSTEM  · 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  <a:ea typeface="Segoe UI"/>
              </a:rPr>
              <a:t>EcoBin Connect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DF5F1"/>
                </a:solidFill>
                <a:latin typeface="Segoe UI"/>
                <a:ea typeface="Segoe UI"/>
              </a:rPr>
              <a:t>Architecture  ·  Wireframe  ·  Atomic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DF5F1"/>
                </a:solidFill>
                <a:latin typeface="Segoe UI"/>
                <a:ea typeface="Segoe UI"/>
              </a:rPr>
              <a:t>DOC-DS-001 Wireframe  →  DOC-DS-002 Pattern  →  DOC-DS-003 UI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8C4BA"/>
                </a:solidFill>
                <a:latin typeface="Segoe UI"/>
                <a:ea typeface="Segoe UI"/>
              </a:rPr>
              <a:t>มหาวิทยาลัยราชภัฏเพชรบูรณ์  ·  ปีการศึกษา 2568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นายจิรกิตติ์ ตันตระกูล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Segoe UI"/>
                <a:ea typeface="Segoe UI"/>
              </a:rPr>
              <a:t>อาจารย์ที่ปรึกษา  ผศ.ศรัญญา ตรีทศ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โครงเรื่องการนำเสนอ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3 ชั้นของการออกแบบ ก่อนลงโค้ด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737360"/>
            <a:ext cx="3657600" cy="4023360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1737360"/>
            <a:ext cx="3657600" cy="82296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01 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Segoe UI"/>
                <a:ea typeface="Segoe UI"/>
              </a:rPr>
              <a:t>สถาปัตยกรรมระบบจริง
Client AI · Vercel · Cloud Run ·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1737360"/>
            <a:ext cx="3657600" cy="4023360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1737360"/>
            <a:ext cx="36576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02  Wireframe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9260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Segoe UI"/>
                <a:ea typeface="Segoe UI"/>
              </a:rPr>
              <a:t>Low-fi B&amp;W · โครงสร้างจอ
Member / Guest / Admin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737360"/>
            <a:ext cx="3657600" cy="4023360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737360"/>
            <a:ext cx="3657600" cy="822960"/>
          </a:xfrm>
          <a:prstGeom prst="rect">
            <a:avLst/>
          </a:prstGeom>
          <a:solidFill>
            <a:srgbClr val="5B4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874519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Segoe UI"/>
                <a:ea typeface="Segoe UI"/>
              </a:rPr>
              <a:t>03  Atomic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260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Segoe UI"/>
                <a:ea typeface="Segoe UI"/>
              </a:rPr>
              <a:t>Atom → Molecule → Organism
Pattern library DOC-DS-002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ผู้ใช้ → Browser (UI + AI) → /api proxy → Go API → Cloud SQL</a:t>
            </a:r>
          </a:p>
        </p:txBody>
      </p:sp>
      <p:pic>
        <p:nvPicPr>
          <p:cNvPr id="14" name="Picture 13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17320"/>
            <a:ext cx="8778240" cy="4937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หลักการออกแบบสถาปัตยกรรม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สรุปจาก docs/guides/02 + 06-uml-architecture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600200"/>
            <a:ext cx="370332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745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แยก Deploy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Segoe UI"/>
                <a:ea typeface="Segoe UI"/>
              </a:rPr>
              <a:t>Frontend / Backend / DB คนละที่ — ปิดโน้ตบุ๊กได้ ระบบยังรัน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600200"/>
            <a:ext cx="370332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60020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18745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Client AI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Segoe UI"/>
                <a:ea typeface="Segoe UI"/>
              </a:rPr>
              <a:t>จำแนกขวดในเบราว์เซอร์ (MobileNet + EcoBin head) ไม่ส่งรูปไป classify ภายนอก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600200"/>
            <a:ext cx="370332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60020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745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Same-origin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Segoe UI"/>
                <a:ea typeface="Segoe UI"/>
              </a:rPr>
              <a:t>เบราว์เซอร์เรียก /api บนโดเมนเว็บ → Vercel proxy ไป Cloud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840480"/>
            <a:ext cx="370332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4048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148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แต้มทันที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Segoe UI"/>
                <a:ea typeface="Segoe UI"/>
              </a:rPr>
              <a:t>ผ่านเกณฑ์ ≥ ~80% → ให้แต้มทันที · Admin อ่านรายการสแกน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840480"/>
            <a:ext cx="370332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384048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1148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Carbon EF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Segoe UI"/>
                <a:ea typeface="Segoe UI"/>
              </a:rPr>
              <a:t>คาร์บอน = มวล × Emission Factor (อ้าง TGO / CMH)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840480"/>
            <a:ext cx="370332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840480"/>
            <a:ext cx="109728" cy="20116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1148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3 บทบาท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Segoe UI"/>
                <a:ea typeface="Segoe UI"/>
              </a:rPr>
              <a:t>Member · Guest (ทดลอง ไม่ได้แต้มจริง) · 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DOC-DS-001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Wireframe (Low-fidelity)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ขาว–ดำ · โฟกัสโครงสร้างจอและ flow — ยังไม่ล็อกสี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554480"/>
            <a:ext cx="37947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276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Login</a:t>
            </a:r>
          </a:p>
        </p:txBody>
      </p:sp>
      <p:pic>
        <p:nvPicPr>
          <p:cNvPr id="16" name="Picture 15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77" y="1874520"/>
            <a:ext cx="2450684" cy="17373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251959" y="1554480"/>
            <a:ext cx="37947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6276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02 Dashboard</a:t>
            </a:r>
          </a:p>
        </p:txBody>
      </p:sp>
      <p:pic>
        <p:nvPicPr>
          <p:cNvPr id="19" name="Picture 18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412" y="1874520"/>
            <a:ext cx="2283853" cy="17373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183879" y="1554480"/>
            <a:ext cx="37947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16276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Scan</a:t>
            </a:r>
          </a:p>
        </p:txBody>
      </p:sp>
      <p:pic>
        <p:nvPicPr>
          <p:cNvPr id="22" name="Picture 21" descr="03-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602" y="1874520"/>
            <a:ext cx="2399313" cy="17373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320040" y="3931920"/>
            <a:ext cx="37947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05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05 Rewards</a:t>
            </a:r>
          </a:p>
        </p:txBody>
      </p:sp>
      <p:pic>
        <p:nvPicPr>
          <p:cNvPr id="25" name="Picture 24" descr="05-rew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225" y="4251960"/>
            <a:ext cx="2344389" cy="173736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251959" y="3931920"/>
            <a:ext cx="37947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4005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12 Admin</a:t>
            </a:r>
          </a:p>
        </p:txBody>
      </p:sp>
      <p:pic>
        <p:nvPicPr>
          <p:cNvPr id="28" name="Picture 27" descr="12-admin-overvie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539" y="4251960"/>
            <a:ext cx="2553600" cy="173736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8183879" y="3931920"/>
            <a:ext cx="37947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9" y="400507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13 Admin QR</a:t>
            </a:r>
          </a:p>
        </p:txBody>
      </p:sp>
      <p:pic>
        <p:nvPicPr>
          <p:cNvPr id="31" name="Picture 30" descr="13-admin-q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4459" y="4251960"/>
            <a:ext cx="2553600" cy="173736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DOC-DS-001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Wireframe — Member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Login → Dashboard → Scan → Rewards /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1 เข้าสู่ระบบ</a:t>
            </a:r>
          </a:p>
        </p:txBody>
      </p:sp>
      <p:pic>
        <p:nvPicPr>
          <p:cNvPr id="16" name="Picture 15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050650"/>
            <a:ext cx="2615184" cy="185397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2461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2 แดชบอร์ด</a:t>
            </a:r>
          </a:p>
        </p:txBody>
      </p:sp>
      <p:pic>
        <p:nvPicPr>
          <p:cNvPr id="19" name="Picture 18" descr="02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982936"/>
            <a:ext cx="2615184" cy="198940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179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3 สแกนขยะ</a:t>
            </a:r>
          </a:p>
        </p:txBody>
      </p:sp>
      <p:pic>
        <p:nvPicPr>
          <p:cNvPr id="22" name="Picture 21" descr="03-sc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030803"/>
            <a:ext cx="2615184" cy="1893673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1897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4 ของรางวัล</a:t>
            </a:r>
          </a:p>
        </p:txBody>
      </p:sp>
      <p:pic>
        <p:nvPicPr>
          <p:cNvPr id="25" name="Picture 24" descr="05-rew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3008620"/>
            <a:ext cx="2615184" cy="193803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DOC-DS-001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Wireframe —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Overview · สแกน QR รับของ · รายการสแกน · จัดการรางวัล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4BB6"/>
                </a:solidFill>
                <a:latin typeface="Segoe UI"/>
                <a:ea typeface="Segoe UI"/>
              </a:rPr>
              <a:t>Overview</a:t>
            </a:r>
          </a:p>
        </p:txBody>
      </p:sp>
      <p:pic>
        <p:nvPicPr>
          <p:cNvPr id="16" name="Picture 15" descr="12-admin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088010"/>
            <a:ext cx="2615184" cy="177925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2461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4BB6"/>
                </a:solidFill>
                <a:latin typeface="Segoe UI"/>
                <a:ea typeface="Segoe UI"/>
              </a:rPr>
              <a:t>สแกน QR</a:t>
            </a:r>
          </a:p>
        </p:txBody>
      </p:sp>
      <p:pic>
        <p:nvPicPr>
          <p:cNvPr id="19" name="Picture 18" descr="13-admin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3088010"/>
            <a:ext cx="2615184" cy="177925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2179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4BB6"/>
                </a:solidFill>
                <a:latin typeface="Segoe UI"/>
                <a:ea typeface="Segoe UI"/>
              </a:rPr>
              <a:t>รายการสแกน</a:t>
            </a:r>
          </a:p>
        </p:txBody>
      </p:sp>
      <p:pic>
        <p:nvPicPr>
          <p:cNvPr id="22" name="Picture 21" descr="14-admin-sca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3088010"/>
            <a:ext cx="2615184" cy="1779259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9189720" y="1554480"/>
            <a:ext cx="283464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4BB6"/>
                </a:solidFill>
                <a:latin typeface="Segoe UI"/>
                <a:ea typeface="Segoe UI"/>
              </a:rPr>
              <a:t>ของรางวัล</a:t>
            </a:r>
          </a:p>
        </p:txBody>
      </p:sp>
      <p:pic>
        <p:nvPicPr>
          <p:cNvPr id="25" name="Picture 24" descr="16-admin-rewar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3088010"/>
            <a:ext cx="2615184" cy="1779259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DOC-DS-002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Atomic Design — ลำดับชั้น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Atom → Molecule → Organism  (Brad Frost) ใช้จัด Pattern library</a:t>
            </a:r>
          </a:p>
        </p:txBody>
      </p:sp>
      <p:pic>
        <p:nvPicPr>
          <p:cNvPr id="14" name="Picture 13" descr="atomic-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436" y="1417320"/>
            <a:ext cx="8862646" cy="4937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DOC-DS-002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ATOMS — พื้นฐาน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สี · ฟอนต์ · ไอคอน · ปุ่ม · Input · Radio  + หลัก C.R.A.P.</a:t>
            </a:r>
          </a:p>
        </p:txBody>
      </p:sp>
      <p:pic>
        <p:nvPicPr>
          <p:cNvPr id="14" name="Picture 13" descr="01-FRAME-1-AT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727" y="1417320"/>
            <a:ext cx="2572064" cy="4937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DOC-DS-002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MOLECULES → ORGANISMS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ชิ้นประกอบ → บล็อกหน้าจอที่ใช้จริงใน EcoBin</a:t>
            </a:r>
          </a:p>
        </p:txBody>
      </p:sp>
      <p:pic>
        <p:nvPicPr>
          <p:cNvPr id="14" name="Picture 13" descr="02-FRAME-2-MOLECULES-ORGANISMS-ECOB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333" y="1371600"/>
            <a:ext cx="1312852" cy="498348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DOC-DS-002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ตัวอย่าง Organism 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Header · Scanner · Rewards · Redeem QR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508760"/>
            <a:ext cx="57150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00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App header</a:t>
            </a:r>
          </a:p>
        </p:txBody>
      </p:sp>
      <p:pic>
        <p:nvPicPr>
          <p:cNvPr id="16" name="Picture 15" descr="organism-16-Organism-App-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22473"/>
            <a:ext cx="5349240" cy="841453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17920" y="1508760"/>
            <a:ext cx="57150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Scanner module</a:t>
            </a:r>
          </a:p>
        </p:txBody>
      </p:sp>
      <p:pic>
        <p:nvPicPr>
          <p:cNvPr id="19" name="Picture 18" descr="organism-19-Organism-Scanner-mo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262" y="1874520"/>
            <a:ext cx="4160314" cy="17373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20040" y="3931920"/>
            <a:ext cx="57150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23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Reward cards</a:t>
            </a:r>
          </a:p>
        </p:txBody>
      </p:sp>
      <p:pic>
        <p:nvPicPr>
          <p:cNvPr id="22" name="Picture 21" descr="organism-20-Organism-Reward-car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167" y="4297680"/>
            <a:ext cx="3964744" cy="17373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217920" y="3931920"/>
            <a:ext cx="57150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6332C"/>
                </a:solidFill>
                <a:latin typeface="Segoe UI"/>
                <a:ea typeface="Segoe UI"/>
              </a:rPr>
              <a:t>Redeem + QR</a:t>
            </a:r>
          </a:p>
        </p:txBody>
      </p:sp>
      <p:pic>
        <p:nvPicPr>
          <p:cNvPr id="25" name="Picture 24" descr="organism-22-Organism-Redeem-modal-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365" y="4297680"/>
            <a:ext cx="1822109" cy="173736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EcoBin PCRU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01 Wireframe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46304"/>
            <a:ext cx="21488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8076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02 Pattern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"/>
            <a:ext cx="2148840" cy="384048"/>
          </a:xfrm>
          <a:prstGeom prst="roundRect">
            <a:avLst/>
          </a:prstGeom>
          <a:solidFill>
            <a:srgbClr val="111827"/>
          </a:solidFill>
          <a:ln w="15875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Segoe UI"/>
              </a:rPr>
              <a:t>03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77240"/>
            <a:ext cx="1417320" cy="292608"/>
          </a:xfrm>
          <a:prstGeom prst="roundRect">
            <a:avLst/>
          </a:prstGeom>
          <a:solidFill>
            <a:srgbClr val="EDF5F1"/>
          </a:solidFill>
          <a:ln w="15875">
            <a:solidFill>
              <a:srgbClr val="0D7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795528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0D7A66"/>
                </a:solidFill>
                <a:latin typeface="Segoe UI"/>
                <a:ea typeface="Segoe UI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7589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6332C"/>
                </a:solidFill>
                <a:latin typeface="Segoe UI"/>
                <a:ea typeface="Segoe UI"/>
              </a:rPr>
              <a:t>ลำดับ fidelity ที่ใช้ในโปรเจกต์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4300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Segoe UI"/>
                <a:ea typeface="Segoe UI"/>
              </a:rPr>
              <a:t>ออกแบบทีละชั้น ก่อนลงโค้ด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737360"/>
            <a:ext cx="274320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737360"/>
            <a:ext cx="2743200" cy="6400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01  Wireframe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51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Segoe UI"/>
                <a:ea typeface="Segoe UI"/>
              </a:rPr>
              <a:t>Low-fi B&amp;W
โครงสร้าง + flow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0F172A"/>
                </a:solidFill>
                <a:latin typeface="Segoe UI"/>
                <a:ea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DOC-DS-001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9E0B"/>
                </a:solidFill>
                <a:latin typeface="Segoe UI"/>
                <a:ea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40" y="1737360"/>
            <a:ext cx="274320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91840" y="1737360"/>
            <a:ext cx="2743200" cy="640080"/>
          </a:xfrm>
          <a:prstGeom prst="rect">
            <a:avLst/>
          </a:prstGeom>
          <a:solidFill>
            <a:srgbClr val="5B4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02 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51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Segoe UI"/>
                <a:ea typeface="Segoe UI"/>
              </a:rPr>
              <a:t>Atom → Organism
คอมโพเนนต์กลาง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0F172A"/>
                </a:solidFill>
                <a:latin typeface="Segoe UI"/>
                <a:ea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DOC-DS-002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9E0B"/>
                </a:solidFill>
                <a:latin typeface="Segoe UI"/>
                <a:ea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737360"/>
            <a:ext cx="274320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737360"/>
            <a:ext cx="2743200" cy="640080"/>
          </a:xfrm>
          <a:prstGeom prst="rect">
            <a:avLst/>
          </a:prstGeom>
          <a:solidFill>
            <a:srgbClr val="0D7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03 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51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Segoe UI"/>
                <a:ea typeface="Segoe UI"/>
              </a:rPr>
              <a:t>สี + โทเคน
High-fi screens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0F172A"/>
                </a:solidFill>
                <a:latin typeface="Segoe UI"/>
                <a:ea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DOC-DS-003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59E0B"/>
                </a:solidFill>
                <a:latin typeface="Segoe UI"/>
                <a:ea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1737360"/>
            <a:ext cx="2743200" cy="3291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737360"/>
            <a:ext cx="2743200" cy="640080"/>
          </a:xfrm>
          <a:prstGeom prst="rect">
            <a:avLst/>
          </a:prstGeom>
          <a:solidFill>
            <a:srgbClr val="163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Segoe UI"/>
              </a:rPr>
              <a:t>04  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65176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Segoe UI"/>
                <a:ea typeface="Segoe UI"/>
              </a:rPr>
              <a:t>แอปบน Vercel
ใช้งานจริง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800" b="0">
                <a:solidFill>
                  <a:srgbClr val="0F172A"/>
                </a:solidFill>
                <a:latin typeface="Segoe UI"/>
                <a:ea typeface="Segoe UI"/>
              </a:rPr>
              <a:t/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Segoe UI"/>
                <a:ea typeface="Segoe UI"/>
              </a:rPr>
              <a:t>Production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035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  <a:ea typeface="Segoe UI"/>
              </a:rPr>
              <a:t>สรุป: Architecture บอกโครงสร้างระบบ · Wireframe บอกจอและ flow · Atomic Design บอกชิ้นประกอบที่ประกอบเป็น UI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6332C"/>
                </a:solidFill>
                <a:latin typeface="Segoe UI"/>
                <a:ea typeface="Segoe UI"/>
              </a:rPr>
              <a:t>ขอบคุณครับ — พร้อมรับคำถาม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9169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836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docs/design  ·  EcoBin Connect  ·  PCRU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8368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